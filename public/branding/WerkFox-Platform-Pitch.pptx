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image" Target="../media/image-1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3.png"/><Relationship Id="rId4" Type="http://schemas.openxmlformats.org/officeDocument/2006/relationships/image" Target="../media/image-9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ohanvemulakonda/Projects/werkfox/public/logo.pn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tretch>
            <a:fillRect/>
          </a:stretch>
        </p:blipFill>
        <p:spPr>
          <a:xfrm>
            <a:off x="6153912" y="-2057400"/>
            <a:ext cx="10972800" cy="10972800"/>
          </a:xfrm>
          <a:prstGeom prst="rect">
            <a:avLst/>
          </a:prstGeom>
        </p:spPr>
      </p:pic>
      <p:pic>
        <p:nvPicPr>
          <p:cNvPr id="3" name="Image 1" descr="/Users/mohanvemulakonda/Projects/werkfox/public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828800" cy="18288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14400" y="29260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spc="400" kern="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Werk</a:t>
            </a:r>
            <a:pPr algn="l" indent="0" marL="0">
              <a:buNone/>
            </a:pPr>
            <a:r>
              <a:rPr lang="en-US" sz="6400" b="1" dirty="0">
                <a:solidFill>
                  <a:srgbClr val="E03B12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Fox</a:t>
            </a:r>
            <a:endParaRPr lang="en-US" sz="5400" dirty="0"/>
          </a:p>
        </p:txBody>
      </p:sp>
      <p:sp>
        <p:nvSpPr>
          <p:cNvPr id="5" name="Shape 1"/>
          <p:cNvSpPr/>
          <p:nvPr/>
        </p:nvSpPr>
        <p:spPr>
          <a:xfrm>
            <a:off x="914400" y="3931920"/>
            <a:ext cx="731520" cy="36576"/>
          </a:xfrm>
          <a:prstGeom prst="rect">
            <a:avLst/>
          </a:prstGeom>
          <a:solidFill>
            <a:srgbClr val="E03B12"/>
          </a:solidFill>
          <a:ln/>
        </p:spPr>
      </p:sp>
      <p:sp>
        <p:nvSpPr>
          <p:cNvPr id="6" name="Text 2"/>
          <p:cNvSpPr/>
          <p:nvPr/>
        </p:nvSpPr>
        <p:spPr>
          <a:xfrm>
            <a:off x="914400" y="411480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Manufacturing ERP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 the Modern Factory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914400" y="6217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3B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www.werkfox.com</a:t>
            </a:r>
            <a:endParaRPr lang="en-US" sz="1200" dirty="0"/>
          </a:p>
        </p:txBody>
      </p:sp>
      <p:pic>
        <p:nvPicPr>
          <p:cNvPr id="8" name="Image 2" descr="/Users/mohanvemulakonda/Projects/werkfox/public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3152" y="6263640"/>
            <a:ext cx="32004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ohanvemulakonda/Projects/werkfox/public/branding/stacknex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411480"/>
            <a:ext cx="91440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202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About StackNex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914400" y="1188720"/>
            <a:ext cx="731520" cy="36576"/>
          </a:xfrm>
          <a:prstGeom prst="rect">
            <a:avLst/>
          </a:prstGeom>
          <a:solidFill>
            <a:srgbClr val="E03B12"/>
          </a:solidFill>
          <a:ln/>
        </p:spPr>
      </p:sp>
      <p:sp>
        <p:nvSpPr>
          <p:cNvPr id="5" name="Text 2"/>
          <p:cNvSpPr/>
          <p:nvPr/>
        </p:nvSpPr>
        <p:spPr>
          <a:xfrm>
            <a:off x="914400" y="146304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StackNex builds cloud-first software products for small and mid-size businesses — from retail to manufacturing. Each product is purpose-built for its industry, designed to replace legacy tools with modern, affordable SaaS.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914400" y="2743200"/>
            <a:ext cx="3200400" cy="2560320"/>
          </a:xfrm>
          <a:prstGeom prst="roundRect">
            <a:avLst>
              <a:gd name="adj" fmla="val 3571"/>
            </a:avLst>
          </a:prstGeom>
          <a:solidFill>
            <a:srgbClr val="FEF2F2"/>
          </a:solidFill>
          <a:ln w="19050">
            <a:solidFill>
              <a:srgbClr val="E03B12"/>
            </a:solidFill>
            <a:prstDash val="solid"/>
          </a:ln>
        </p:spPr>
      </p:sp>
      <p:pic>
        <p:nvPicPr>
          <p:cNvPr id="7" name="Image 1" descr="/Users/mohanvemulakonda/Projects/werkfox/public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2971800"/>
            <a:ext cx="411480" cy="411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91640" y="29260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Werk</a:t>
            </a:r>
            <a:pPr algn="l" indent="0" marL="0">
              <a:buNone/>
            </a:pPr>
            <a:r>
              <a:rPr lang="en-US" sz="2600" b="1" dirty="0">
                <a:solidFill>
                  <a:srgbClr val="E03B12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Fox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1188720" y="3383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3B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Manufacturing ERP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188720" y="374904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End-to-end production management — inventory, BOM, work orders, dispatch, invoicing, CRM. Built for Indian factories.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434840" y="2743200"/>
            <a:ext cx="3200400" cy="2560320"/>
          </a:xfrm>
          <a:prstGeom prst="roundRect">
            <a:avLst>
              <a:gd name="adj" fmla="val 3571"/>
            </a:avLst>
          </a:prstGeom>
          <a:solidFill>
            <a:srgbClr val="F3F4F6"/>
          </a:solidFill>
          <a:ln/>
        </p:spPr>
      </p:sp>
      <p:pic>
        <p:nvPicPr>
          <p:cNvPr id="12" name="Image 2" descr="/Users/mohanvemulakonda/Projects/werkfox/public/branding/nexpos-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297180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212080" y="29260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</a:t>
            </a:r>
            <a:pPr algn="l" indent="0" marL="0">
              <a:buNone/>
            </a:pPr>
            <a:r>
              <a:rPr lang="en-US" sz="2200" b="1" dirty="0">
                <a:solidFill>
                  <a:srgbClr val="E03B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4709160" y="3383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3B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Cloud Point of Sale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4709160" y="374904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Multi-location POS for restaurants, retail &amp; QSR. KDS, inventory, multi-currency, dine-in. Live in 15+ countries.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7955280" y="2743200"/>
            <a:ext cx="3200400" cy="2560320"/>
          </a:xfrm>
          <a:prstGeom prst="roundRect">
            <a:avLst>
              <a:gd name="adj" fmla="val 3571"/>
            </a:avLst>
          </a:prstGeom>
          <a:solidFill>
            <a:srgbClr val="F3F4F6"/>
          </a:solidFill>
          <a:ln/>
        </p:spPr>
      </p:sp>
      <p:pic>
        <p:nvPicPr>
          <p:cNvPr id="17" name="Image 3" descr="/Users/mohanvemulakonda/Projects/werkfox/public/branding/toolsfinder-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297180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732520" y="29260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Tools</a:t>
            </a:r>
            <a:pPr algn="l" indent="0" marL="0">
              <a:buNone/>
            </a:pPr>
            <a:r>
              <a:rPr lang="en-US" sz="2200" b="1" dirty="0">
                <a:solidFill>
                  <a:srgbClr val="E03B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Finder</a:t>
            </a:r>
            <a:endParaRPr lang="en-US" sz="2200" dirty="0"/>
          </a:p>
        </p:txBody>
      </p:sp>
      <p:sp>
        <p:nvSpPr>
          <p:cNvPr id="19" name="Text 13"/>
          <p:cNvSpPr/>
          <p:nvPr/>
        </p:nvSpPr>
        <p:spPr>
          <a:xfrm>
            <a:off x="8229600" y="3383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3B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Industrial Tool Marketplace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8229600" y="374904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Search, compare and source cutting tools, inserts &amp; accessories. Parametric 2D/3D tool visualization.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914400" y="6172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presentation focuses on WerkFox — our manufacturing ERP platform.</a:t>
            </a:r>
            <a:endParaRPr lang="en-US" sz="1100" dirty="0"/>
          </a:p>
        </p:txBody>
      </p:sp>
      <p:pic>
        <p:nvPicPr>
          <p:cNvPr id="22" name="Image 4" descr="/Users/mohanvemulakonda/Projects/werkfox/public/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03152" y="6263640"/>
            <a:ext cx="32004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486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1188720"/>
            <a:ext cx="731520" cy="36576"/>
          </a:xfrm>
          <a:prstGeom prst="rect">
            <a:avLst/>
          </a:prstGeom>
          <a:solidFill>
            <a:srgbClr val="E03B12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Most Indian manufacturers still run on spreadsheets, paper registers, and disconnected software.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14400" y="2011680"/>
            <a:ext cx="3200400" cy="1645920"/>
          </a:xfrm>
          <a:prstGeom prst="roundRect">
            <a:avLst>
              <a:gd name="adj" fmla="val 5556"/>
            </a:avLst>
          </a:prstGeom>
          <a:solidFill>
            <a:srgbClr val="FEF2F2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2240280"/>
            <a:ext cx="109728" cy="109728"/>
          </a:xfrm>
          <a:prstGeom prst="ellipse">
            <a:avLst/>
          </a:prstGeom>
          <a:solidFill>
            <a:srgbClr val="E03B12"/>
          </a:solidFill>
          <a:ln/>
        </p:spPr>
      </p:sp>
      <p:sp>
        <p:nvSpPr>
          <p:cNvPr id="7" name="Text 5"/>
          <p:cNvSpPr/>
          <p:nvPr/>
        </p:nvSpPr>
        <p:spPr>
          <a:xfrm>
            <a:off x="1325880" y="214884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Production Visibility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251460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Factory owners have no real-time view of what's on the floor — which orders are running, which are stuck, what's delayed.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34840" y="2011680"/>
            <a:ext cx="3200400" cy="1645920"/>
          </a:xfrm>
          <a:prstGeom prst="roundRect">
            <a:avLst>
              <a:gd name="adj" fmla="val 5556"/>
            </a:avLst>
          </a:prstGeom>
          <a:solidFill>
            <a:srgbClr val="FEF2F2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2240280"/>
            <a:ext cx="109728" cy="109728"/>
          </a:xfrm>
          <a:prstGeom prst="ellipse">
            <a:avLst/>
          </a:prstGeom>
          <a:solidFill>
            <a:srgbClr val="E03B12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214884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Excel-based Inventory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63440" y="251460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Stock tracked in spreadsheets. No live count, no reorder alerts, no link between raw materials and finished goods.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955280" y="2011680"/>
            <a:ext cx="3200400" cy="1645920"/>
          </a:xfrm>
          <a:prstGeom prst="roundRect">
            <a:avLst>
              <a:gd name="adj" fmla="val 5556"/>
            </a:avLst>
          </a:prstGeom>
          <a:solidFill>
            <a:srgbClr val="FEF2F2"/>
          </a:solidFill>
          <a:ln/>
        </p:spPr>
      </p:sp>
      <p:sp>
        <p:nvSpPr>
          <p:cNvPr id="14" name="Shape 12"/>
          <p:cNvSpPr/>
          <p:nvPr/>
        </p:nvSpPr>
        <p:spPr>
          <a:xfrm>
            <a:off x="8183880" y="2240280"/>
            <a:ext cx="109728" cy="109728"/>
          </a:xfrm>
          <a:prstGeom prst="ellipse">
            <a:avLst/>
          </a:prstGeom>
          <a:solidFill>
            <a:srgbClr val="E03B12"/>
          </a:solidFill>
          <a:ln/>
        </p:spPr>
      </p:sp>
      <p:sp>
        <p:nvSpPr>
          <p:cNvPr id="15" name="Text 13"/>
          <p:cNvSpPr/>
          <p:nvPr/>
        </p:nvSpPr>
        <p:spPr>
          <a:xfrm>
            <a:off x="8366760" y="214884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Manual Quoting &amp; Invoicing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83880" y="251460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Quotes created in Word/Excel, no version history, no conversion tracking. Invoices disconnected from orders.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4400" y="3931920"/>
            <a:ext cx="3200400" cy="1645920"/>
          </a:xfrm>
          <a:prstGeom prst="roundRect">
            <a:avLst>
              <a:gd name="adj" fmla="val 5556"/>
            </a:avLst>
          </a:prstGeom>
          <a:solidFill>
            <a:srgbClr val="FEF2F2"/>
          </a:solidFill>
          <a:ln/>
        </p:spPr>
      </p:sp>
      <p:sp>
        <p:nvSpPr>
          <p:cNvPr id="18" name="Shape 16"/>
          <p:cNvSpPr/>
          <p:nvPr/>
        </p:nvSpPr>
        <p:spPr>
          <a:xfrm>
            <a:off x="1143000" y="4160520"/>
            <a:ext cx="109728" cy="109728"/>
          </a:xfrm>
          <a:prstGeom prst="ellipse">
            <a:avLst/>
          </a:prstGeom>
          <a:solidFill>
            <a:srgbClr val="E03B12"/>
          </a:solidFill>
          <a:ln/>
        </p:spPr>
      </p:sp>
      <p:sp>
        <p:nvSpPr>
          <p:cNvPr id="19" name="Text 17"/>
          <p:cNvSpPr/>
          <p:nvPr/>
        </p:nvSpPr>
        <p:spPr>
          <a:xfrm>
            <a:off x="1325880" y="406908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Material Planning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443484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BOM exists on paper. No auto-calculation of material needs per order. Over-ordering or shortages are common.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34840" y="3931920"/>
            <a:ext cx="3200400" cy="1645920"/>
          </a:xfrm>
          <a:prstGeom prst="roundRect">
            <a:avLst>
              <a:gd name="adj" fmla="val 5556"/>
            </a:avLst>
          </a:prstGeom>
          <a:solidFill>
            <a:srgbClr val="FEF2F2"/>
          </a:solidFill>
          <a:ln/>
        </p:spPr>
      </p:sp>
      <p:sp>
        <p:nvSpPr>
          <p:cNvPr id="22" name="Shape 20"/>
          <p:cNvSpPr/>
          <p:nvPr/>
        </p:nvSpPr>
        <p:spPr>
          <a:xfrm>
            <a:off x="4663440" y="4160520"/>
            <a:ext cx="109728" cy="109728"/>
          </a:xfrm>
          <a:prstGeom prst="ellipse">
            <a:avLst/>
          </a:prstGeom>
          <a:solidFill>
            <a:srgbClr val="E03B12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406908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Vendor Chaos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663440" y="443484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centralized vendor database. Purchase orders via WhatsApp. No GRN tracking. Payment disputes are frequent.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955280" y="3931920"/>
            <a:ext cx="3200400" cy="1645920"/>
          </a:xfrm>
          <a:prstGeom prst="roundRect">
            <a:avLst>
              <a:gd name="adj" fmla="val 5556"/>
            </a:avLst>
          </a:prstGeom>
          <a:solidFill>
            <a:srgbClr val="FEF2F2"/>
          </a:solidFill>
          <a:ln/>
        </p:spPr>
      </p:sp>
      <p:sp>
        <p:nvSpPr>
          <p:cNvPr id="26" name="Shape 24"/>
          <p:cNvSpPr/>
          <p:nvPr/>
        </p:nvSpPr>
        <p:spPr>
          <a:xfrm>
            <a:off x="8183880" y="4160520"/>
            <a:ext cx="109728" cy="109728"/>
          </a:xfrm>
          <a:prstGeom prst="ellipse">
            <a:avLst/>
          </a:prstGeom>
          <a:solidFill>
            <a:srgbClr val="E03B12"/>
          </a:solidFill>
          <a:ln/>
        </p:spPr>
      </p:sp>
      <p:sp>
        <p:nvSpPr>
          <p:cNvPr id="27" name="Text 25"/>
          <p:cNvSpPr/>
          <p:nvPr/>
        </p:nvSpPr>
        <p:spPr>
          <a:xfrm>
            <a:off x="8366760" y="406908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Zero Customer Tracking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183880" y="443484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CRM. Customer history lives in someone's head. Follow-ups missed. Repeat business left on the table.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14400" y="6172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03B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63% of Indian SME manufacturers still use manual methods for production planning.</a:t>
            </a:r>
            <a:endParaRPr lang="en-US" sz="1200" dirty="0"/>
          </a:p>
        </p:txBody>
      </p:sp>
      <p:pic>
        <p:nvPicPr>
          <p:cNvPr id="30" name="Image 0" descr="/Users/mohanvemulakonda/Projects/werkfox/publi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03152" y="6263640"/>
            <a:ext cx="32004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486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Solution — </a:t>
            </a:r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Werk</a:t>
            </a:r>
            <a:pPr indent="0" marL="0">
              <a:buNone/>
            </a:pPr>
            <a:r>
              <a:rPr lang="en-US" sz="3800" b="1" dirty="0">
                <a:solidFill>
                  <a:srgbClr val="E03B12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Fox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1188720"/>
            <a:ext cx="731520" cy="36576"/>
          </a:xfrm>
          <a:prstGeom prst="rect">
            <a:avLst/>
          </a:prstGeom>
          <a:solidFill>
            <a:srgbClr val="E03B12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platform that replaces spreadsheets, WhatsApp coordination, and disconnected tools.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14400" y="2011680"/>
            <a:ext cx="3200400" cy="1645920"/>
          </a:xfrm>
          <a:prstGeom prst="roundRect">
            <a:avLst>
              <a:gd name="adj" fmla="val 5556"/>
            </a:avLst>
          </a:prstGeom>
          <a:solidFill>
            <a:srgbClr val="F0FDF4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2240280"/>
            <a:ext cx="109728" cy="10972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7" name="Text 5"/>
          <p:cNvSpPr/>
          <p:nvPr/>
        </p:nvSpPr>
        <p:spPr>
          <a:xfrm>
            <a:off x="1325880" y="214884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Live Production Dashboard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251460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Real-time work order tracking. See what's running, what's pending, what's delayed — from anywhere.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34840" y="2011680"/>
            <a:ext cx="3200400" cy="1645920"/>
          </a:xfrm>
          <a:prstGeom prst="roundRect">
            <a:avLst>
              <a:gd name="adj" fmla="val 5556"/>
            </a:avLst>
          </a:prstGeom>
          <a:solidFill>
            <a:srgbClr val="F0FDF4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2240280"/>
            <a:ext cx="109728" cy="10972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214884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Smart Inventory Management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63440" y="251460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Live stock levels across warehouses. Auto reorder alerts. Raw material to finished goods traceability.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955280" y="2011680"/>
            <a:ext cx="3200400" cy="1645920"/>
          </a:xfrm>
          <a:prstGeom prst="roundRect">
            <a:avLst>
              <a:gd name="adj" fmla="val 5556"/>
            </a:avLst>
          </a:prstGeom>
          <a:solidFill>
            <a:srgbClr val="F0FDF4"/>
          </a:solidFill>
          <a:ln/>
        </p:spPr>
      </p:sp>
      <p:sp>
        <p:nvSpPr>
          <p:cNvPr id="14" name="Shape 12"/>
          <p:cNvSpPr/>
          <p:nvPr/>
        </p:nvSpPr>
        <p:spPr>
          <a:xfrm>
            <a:off x="8183880" y="2240280"/>
            <a:ext cx="109728" cy="10972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5" name="Text 13"/>
          <p:cNvSpPr/>
          <p:nvPr/>
        </p:nvSpPr>
        <p:spPr>
          <a:xfrm>
            <a:off x="8366760" y="214884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Quotes → Orders → Invoices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83880" y="251460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Create quotes, convert to sales orders, generate invoices — one flow. Version history, PDF export, payment tracking.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4400" y="3931920"/>
            <a:ext cx="3200400" cy="1645920"/>
          </a:xfrm>
          <a:prstGeom prst="roundRect">
            <a:avLst>
              <a:gd name="adj" fmla="val 5556"/>
            </a:avLst>
          </a:prstGeom>
          <a:solidFill>
            <a:srgbClr val="F0FDF4"/>
          </a:solidFill>
          <a:ln/>
        </p:spPr>
      </p:sp>
      <p:sp>
        <p:nvSpPr>
          <p:cNvPr id="18" name="Shape 16"/>
          <p:cNvSpPr/>
          <p:nvPr/>
        </p:nvSpPr>
        <p:spPr>
          <a:xfrm>
            <a:off x="1143000" y="4160520"/>
            <a:ext cx="109728" cy="10972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9" name="Text 17"/>
          <p:cNvSpPr/>
          <p:nvPr/>
        </p:nvSpPr>
        <p:spPr>
          <a:xfrm>
            <a:off x="1325880" y="406908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BOM &amp; Material Requests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443484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Define multi-level BOMs. Auto-calculate material needs per work order. Generate purchase requests in one click.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34840" y="3931920"/>
            <a:ext cx="3200400" cy="1645920"/>
          </a:xfrm>
          <a:prstGeom prst="roundRect">
            <a:avLst>
              <a:gd name="adj" fmla="val 5556"/>
            </a:avLst>
          </a:prstGeom>
          <a:solidFill>
            <a:srgbClr val="F0FDF4"/>
          </a:solidFill>
          <a:ln/>
        </p:spPr>
      </p:sp>
      <p:sp>
        <p:nvSpPr>
          <p:cNvPr id="22" name="Shape 20"/>
          <p:cNvSpPr/>
          <p:nvPr/>
        </p:nvSpPr>
        <p:spPr>
          <a:xfrm>
            <a:off x="4663440" y="4160520"/>
            <a:ext cx="109728" cy="10972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406908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Vendor &amp; Purchase Management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663440" y="443484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Centralized vendor database. PO creation, GRN tracking, payment reconciliation. No more WhatsApp orders.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955280" y="3931920"/>
            <a:ext cx="3200400" cy="1645920"/>
          </a:xfrm>
          <a:prstGeom prst="roundRect">
            <a:avLst>
              <a:gd name="adj" fmla="val 5556"/>
            </a:avLst>
          </a:prstGeom>
          <a:solidFill>
            <a:srgbClr val="F0FDF4"/>
          </a:solidFill>
          <a:ln/>
        </p:spPr>
      </p:sp>
      <p:sp>
        <p:nvSpPr>
          <p:cNvPr id="26" name="Shape 24"/>
          <p:cNvSpPr/>
          <p:nvPr/>
        </p:nvSpPr>
        <p:spPr>
          <a:xfrm>
            <a:off x="8183880" y="4160520"/>
            <a:ext cx="109728" cy="10972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7" name="Text 25"/>
          <p:cNvSpPr/>
          <p:nvPr/>
        </p:nvSpPr>
        <p:spPr>
          <a:xfrm>
            <a:off x="8366760" y="406908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Built-in CRM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183880" y="443484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 profiles, interaction history, follow-up reminders, deal pipeline. Never miss a repeat order.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14400" y="6172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596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All modules connected. One login. One database. Zero data silos.</a:t>
            </a:r>
            <a:endParaRPr lang="en-US" sz="1200" dirty="0"/>
          </a:p>
        </p:txBody>
      </p:sp>
      <p:pic>
        <p:nvPicPr>
          <p:cNvPr id="30" name="Image 0" descr="/Users/mohanvemulakonda/Projects/werkfox/publi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03152" y="6263640"/>
            <a:ext cx="32004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74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Dashboard — Real-time Business Overview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914400" y="822960"/>
            <a:ext cx="731520" cy="36576"/>
          </a:xfrm>
          <a:prstGeom prst="rect">
            <a:avLst/>
          </a:prstGeom>
          <a:solidFill>
            <a:srgbClr val="E03B12"/>
          </a:solidFill>
          <a:ln/>
        </p:spPr>
      </p:sp>
      <p:sp>
        <p:nvSpPr>
          <p:cNvPr id="4" name="Shape 2"/>
          <p:cNvSpPr/>
          <p:nvPr/>
        </p:nvSpPr>
        <p:spPr>
          <a:xfrm>
            <a:off x="2011680" y="1097280"/>
            <a:ext cx="8229600" cy="49377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20">
                <a:alpha val="7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11680" y="1097280"/>
            <a:ext cx="8229600" cy="411480"/>
          </a:xfrm>
          <a:prstGeom prst="rect">
            <a:avLst>
              <a:gd name="adj" fmla="val 26667"/>
            </a:avLst>
          </a:prstGeom>
          <a:solidFill>
            <a:srgbClr val="1A1A1A"/>
          </a:solidFill>
          <a:ln/>
        </p:spPr>
      </p:sp>
      <p:pic>
        <p:nvPicPr>
          <p:cNvPr id="6" name="Image 0" descr="/Users/mohanvemulakonda/Projects/werkfox/publi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4560" y="1161288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514600" y="117043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Werk</a:t>
            </a:r>
            <a:pPr indent="0" marL="0">
              <a:buNone/>
            </a:pPr>
            <a:r>
              <a:rPr lang="en-US" sz="1300" b="1" dirty="0">
                <a:solidFill>
                  <a:srgbClr val="E03B12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Fox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840480" y="117043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CRM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663440" y="117043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ERP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011680" y="1508760"/>
            <a:ext cx="8229600" cy="32004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1" name="Text 8"/>
          <p:cNvSpPr/>
          <p:nvPr/>
        </p:nvSpPr>
        <p:spPr>
          <a:xfrm>
            <a:off x="2286000" y="153619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Dashboard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286000" y="2011680"/>
            <a:ext cx="17830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423160" y="2148840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Text 11"/>
          <p:cNvSpPr/>
          <p:nvPr/>
        </p:nvSpPr>
        <p:spPr>
          <a:xfrm>
            <a:off x="2651760" y="208483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Pipeline Value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2651760" y="23042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₹24.5L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2651760" y="257860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 open opportunities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4251960" y="2011680"/>
            <a:ext cx="17830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389120" y="2148840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9" name="Text 16"/>
          <p:cNvSpPr/>
          <p:nvPr/>
        </p:nvSpPr>
        <p:spPr>
          <a:xfrm>
            <a:off x="4617720" y="208483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Revenue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4617720" y="23042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₹8.2L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617720" y="257860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38 invoices total</a:t>
            </a:r>
            <a:endParaRPr lang="en-US" sz="700" dirty="0"/>
          </a:p>
        </p:txBody>
      </p:sp>
      <p:sp>
        <p:nvSpPr>
          <p:cNvPr id="22" name="Shape 19"/>
          <p:cNvSpPr/>
          <p:nvPr/>
        </p:nvSpPr>
        <p:spPr>
          <a:xfrm>
            <a:off x="6217920" y="2011680"/>
            <a:ext cx="17830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55080" y="2148840"/>
            <a:ext cx="164592" cy="164592"/>
          </a:xfrm>
          <a:prstGeom prst="ellipse">
            <a:avLst/>
          </a:prstGeom>
          <a:solidFill>
            <a:srgbClr val="E03B12"/>
          </a:solidFill>
          <a:ln/>
        </p:spPr>
      </p:sp>
      <p:sp>
        <p:nvSpPr>
          <p:cNvPr id="24" name="Text 21"/>
          <p:cNvSpPr/>
          <p:nvPr/>
        </p:nvSpPr>
        <p:spPr>
          <a:xfrm>
            <a:off x="6583680" y="208483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Active Leads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583680" y="23042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47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583680" y="257860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23 customers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8183880" y="2011680"/>
            <a:ext cx="17830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321040" y="2148840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9" name="Text 26"/>
          <p:cNvSpPr/>
          <p:nvPr/>
        </p:nvSpPr>
        <p:spPr>
          <a:xfrm>
            <a:off x="8549640" y="208483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Pending Actions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8549640" y="23042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8549640" y="257860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invoices · 3 POs</a:t>
            </a:r>
            <a:endParaRPr lang="en-US" sz="700" dirty="0"/>
          </a:p>
        </p:txBody>
      </p:sp>
      <p:sp>
        <p:nvSpPr>
          <p:cNvPr id="32" name="Shape 29"/>
          <p:cNvSpPr/>
          <p:nvPr/>
        </p:nvSpPr>
        <p:spPr>
          <a:xfrm>
            <a:off x="2286000" y="3017520"/>
            <a:ext cx="4754880" cy="256032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468880" y="3108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Monthly Revenue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2651760" y="4754880"/>
            <a:ext cx="365760" cy="548640"/>
          </a:xfrm>
          <a:prstGeom prst="roundRect">
            <a:avLst>
              <a:gd name="adj" fmla="val 10000"/>
            </a:avLst>
          </a:prstGeom>
          <a:solidFill>
            <a:srgbClr val="E8D5D0"/>
          </a:solidFill>
          <a:ln/>
        </p:spPr>
      </p:sp>
      <p:sp>
        <p:nvSpPr>
          <p:cNvPr id="35" name="Text 32"/>
          <p:cNvSpPr/>
          <p:nvPr/>
        </p:nvSpPr>
        <p:spPr>
          <a:xfrm>
            <a:off x="2606040" y="53035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Oct</a:t>
            </a:r>
            <a:endParaRPr lang="en-US" sz="600" dirty="0"/>
          </a:p>
        </p:txBody>
      </p:sp>
      <p:sp>
        <p:nvSpPr>
          <p:cNvPr id="36" name="Shape 33"/>
          <p:cNvSpPr/>
          <p:nvPr/>
        </p:nvSpPr>
        <p:spPr>
          <a:xfrm>
            <a:off x="3246120" y="4572000"/>
            <a:ext cx="365760" cy="731520"/>
          </a:xfrm>
          <a:prstGeom prst="roundRect">
            <a:avLst>
              <a:gd name="adj" fmla="val 10000"/>
            </a:avLst>
          </a:prstGeom>
          <a:solidFill>
            <a:srgbClr val="E8D5D0"/>
          </a:solidFill>
          <a:ln/>
        </p:spPr>
      </p:sp>
      <p:sp>
        <p:nvSpPr>
          <p:cNvPr id="37" name="Text 34"/>
          <p:cNvSpPr/>
          <p:nvPr/>
        </p:nvSpPr>
        <p:spPr>
          <a:xfrm>
            <a:off x="3200400" y="53035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Nov</a:t>
            </a:r>
            <a:endParaRPr lang="en-US" sz="600" dirty="0"/>
          </a:p>
        </p:txBody>
      </p:sp>
      <p:sp>
        <p:nvSpPr>
          <p:cNvPr id="38" name="Shape 35"/>
          <p:cNvSpPr/>
          <p:nvPr/>
        </p:nvSpPr>
        <p:spPr>
          <a:xfrm>
            <a:off x="3840480" y="4389120"/>
            <a:ext cx="365760" cy="914400"/>
          </a:xfrm>
          <a:prstGeom prst="roundRect">
            <a:avLst>
              <a:gd name="adj" fmla="val 10000"/>
            </a:avLst>
          </a:prstGeom>
          <a:solidFill>
            <a:srgbClr val="EDCEC6"/>
          </a:solidFill>
          <a:ln/>
        </p:spPr>
      </p:sp>
      <p:sp>
        <p:nvSpPr>
          <p:cNvPr id="39" name="Text 36"/>
          <p:cNvSpPr/>
          <p:nvPr/>
        </p:nvSpPr>
        <p:spPr>
          <a:xfrm>
            <a:off x="3794760" y="53035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</a:t>
            </a:r>
            <a:endParaRPr lang="en-US" sz="600" dirty="0"/>
          </a:p>
        </p:txBody>
      </p:sp>
      <p:sp>
        <p:nvSpPr>
          <p:cNvPr id="40" name="Shape 37"/>
          <p:cNvSpPr/>
          <p:nvPr/>
        </p:nvSpPr>
        <p:spPr>
          <a:xfrm>
            <a:off x="4434840" y="4023360"/>
            <a:ext cx="365760" cy="1280160"/>
          </a:xfrm>
          <a:prstGeom prst="roundRect">
            <a:avLst>
              <a:gd name="adj" fmla="val 10000"/>
            </a:avLst>
          </a:prstGeom>
          <a:solidFill>
            <a:srgbClr val="F0B8A8"/>
          </a:solidFill>
          <a:ln/>
        </p:spPr>
      </p:sp>
      <p:sp>
        <p:nvSpPr>
          <p:cNvPr id="41" name="Text 38"/>
          <p:cNvSpPr/>
          <p:nvPr/>
        </p:nvSpPr>
        <p:spPr>
          <a:xfrm>
            <a:off x="4389120" y="53035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Jan</a:t>
            </a:r>
            <a:endParaRPr lang="en-US" sz="600" dirty="0"/>
          </a:p>
        </p:txBody>
      </p:sp>
      <p:sp>
        <p:nvSpPr>
          <p:cNvPr id="42" name="Shape 39"/>
          <p:cNvSpPr/>
          <p:nvPr/>
        </p:nvSpPr>
        <p:spPr>
          <a:xfrm>
            <a:off x="5029200" y="3657600"/>
            <a:ext cx="365760" cy="1645920"/>
          </a:xfrm>
          <a:prstGeom prst="roundRect">
            <a:avLst>
              <a:gd name="adj" fmla="val 10000"/>
            </a:avLst>
          </a:prstGeom>
          <a:solidFill>
            <a:srgbClr val="E8926E"/>
          </a:solidFill>
          <a:ln/>
        </p:spPr>
      </p:sp>
      <p:sp>
        <p:nvSpPr>
          <p:cNvPr id="43" name="Text 40"/>
          <p:cNvSpPr/>
          <p:nvPr/>
        </p:nvSpPr>
        <p:spPr>
          <a:xfrm>
            <a:off x="4983480" y="53035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Feb</a:t>
            </a:r>
            <a:endParaRPr lang="en-US" sz="600" dirty="0"/>
          </a:p>
        </p:txBody>
      </p:sp>
      <p:sp>
        <p:nvSpPr>
          <p:cNvPr id="44" name="Shape 41"/>
          <p:cNvSpPr/>
          <p:nvPr/>
        </p:nvSpPr>
        <p:spPr>
          <a:xfrm>
            <a:off x="5623560" y="3383280"/>
            <a:ext cx="365760" cy="1920240"/>
          </a:xfrm>
          <a:prstGeom prst="roundRect">
            <a:avLst>
              <a:gd name="adj" fmla="val 10000"/>
            </a:avLst>
          </a:prstGeom>
          <a:solidFill>
            <a:srgbClr val="E03B12"/>
          </a:solidFill>
          <a:ln/>
        </p:spPr>
      </p:sp>
      <p:sp>
        <p:nvSpPr>
          <p:cNvPr id="45" name="Text 42"/>
          <p:cNvSpPr/>
          <p:nvPr/>
        </p:nvSpPr>
        <p:spPr>
          <a:xfrm>
            <a:off x="5577840" y="53035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</a:t>
            </a:r>
            <a:endParaRPr lang="en-US" sz="600" dirty="0"/>
          </a:p>
        </p:txBody>
      </p:sp>
      <p:sp>
        <p:nvSpPr>
          <p:cNvPr id="46" name="Shape 43"/>
          <p:cNvSpPr/>
          <p:nvPr/>
        </p:nvSpPr>
        <p:spPr>
          <a:xfrm>
            <a:off x="6217920" y="4206240"/>
            <a:ext cx="365760" cy="1097280"/>
          </a:xfrm>
          <a:prstGeom prst="roundRect">
            <a:avLst>
              <a:gd name="adj" fmla="val 10000"/>
            </a:avLst>
          </a:prstGeom>
          <a:solidFill>
            <a:srgbClr val="F0B8A8"/>
          </a:solidFill>
          <a:ln/>
        </p:spPr>
      </p:sp>
      <p:sp>
        <p:nvSpPr>
          <p:cNvPr id="47" name="Text 44"/>
          <p:cNvSpPr/>
          <p:nvPr/>
        </p:nvSpPr>
        <p:spPr>
          <a:xfrm>
            <a:off x="6172200" y="53035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Apr</a:t>
            </a:r>
            <a:endParaRPr lang="en-US" sz="600" dirty="0"/>
          </a:p>
        </p:txBody>
      </p:sp>
      <p:sp>
        <p:nvSpPr>
          <p:cNvPr id="48" name="Shape 45"/>
          <p:cNvSpPr/>
          <p:nvPr/>
        </p:nvSpPr>
        <p:spPr>
          <a:xfrm>
            <a:off x="7223760" y="3017520"/>
            <a:ext cx="2834640" cy="256032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7360920" y="3108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Recent Leads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7360920" y="34747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Rajesh Industries</a:t>
            </a:r>
            <a:endParaRPr lang="en-US" sz="700" dirty="0"/>
          </a:p>
        </p:txBody>
      </p:sp>
      <p:sp>
        <p:nvSpPr>
          <p:cNvPr id="51" name="Shape 48"/>
          <p:cNvSpPr/>
          <p:nvPr/>
        </p:nvSpPr>
        <p:spPr>
          <a:xfrm>
            <a:off x="9006840" y="3520440"/>
            <a:ext cx="822960" cy="18288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52" name="Text 49"/>
          <p:cNvSpPr/>
          <p:nvPr/>
        </p:nvSpPr>
        <p:spPr>
          <a:xfrm>
            <a:off x="9006840" y="352044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QUALIFIED</a:t>
            </a:r>
            <a:endParaRPr lang="en-US" sz="500" dirty="0"/>
          </a:p>
        </p:txBody>
      </p:sp>
      <p:sp>
        <p:nvSpPr>
          <p:cNvPr id="53" name="Text 50"/>
          <p:cNvSpPr/>
          <p:nvPr/>
        </p:nvSpPr>
        <p:spPr>
          <a:xfrm>
            <a:off x="7360920" y="385876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Kumar Kitchens</a:t>
            </a:r>
            <a:endParaRPr lang="en-US" sz="700" dirty="0"/>
          </a:p>
        </p:txBody>
      </p:sp>
      <p:sp>
        <p:nvSpPr>
          <p:cNvPr id="54" name="Shape 51"/>
          <p:cNvSpPr/>
          <p:nvPr/>
        </p:nvSpPr>
        <p:spPr>
          <a:xfrm>
            <a:off x="9006840" y="3904488"/>
            <a:ext cx="822960" cy="18288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9006840" y="390448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CONTACTED</a:t>
            </a:r>
            <a:endParaRPr lang="en-US" sz="500" dirty="0"/>
          </a:p>
        </p:txBody>
      </p:sp>
      <p:sp>
        <p:nvSpPr>
          <p:cNvPr id="56" name="Text 53"/>
          <p:cNvSpPr/>
          <p:nvPr/>
        </p:nvSpPr>
        <p:spPr>
          <a:xfrm>
            <a:off x="7360920" y="424281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Sri Furniture</a:t>
            </a:r>
            <a:endParaRPr lang="en-US" sz="700" dirty="0"/>
          </a:p>
        </p:txBody>
      </p:sp>
      <p:sp>
        <p:nvSpPr>
          <p:cNvPr id="57" name="Shape 54"/>
          <p:cNvSpPr/>
          <p:nvPr/>
        </p:nvSpPr>
        <p:spPr>
          <a:xfrm>
            <a:off x="9006840" y="4288536"/>
            <a:ext cx="822960" cy="182880"/>
          </a:xfrm>
          <a:prstGeom prst="roundRect">
            <a:avLst>
              <a:gd name="adj" fmla="val 20000"/>
            </a:avLst>
          </a:prstGeom>
          <a:solidFill>
            <a:srgbClr val="9CA3AF"/>
          </a:solidFill>
          <a:ln/>
        </p:spPr>
      </p:sp>
      <p:sp>
        <p:nvSpPr>
          <p:cNvPr id="58" name="Text 55"/>
          <p:cNvSpPr/>
          <p:nvPr/>
        </p:nvSpPr>
        <p:spPr>
          <a:xfrm>
            <a:off x="9006840" y="4288536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NEW</a:t>
            </a:r>
            <a:endParaRPr lang="en-US" sz="500" dirty="0"/>
          </a:p>
        </p:txBody>
      </p:sp>
      <p:sp>
        <p:nvSpPr>
          <p:cNvPr id="59" name="Text 56"/>
          <p:cNvSpPr/>
          <p:nvPr/>
        </p:nvSpPr>
        <p:spPr>
          <a:xfrm>
            <a:off x="7360920" y="462686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Metro Interiors</a:t>
            </a:r>
            <a:endParaRPr lang="en-US" sz="700" dirty="0"/>
          </a:p>
        </p:txBody>
      </p:sp>
      <p:sp>
        <p:nvSpPr>
          <p:cNvPr id="60" name="Shape 57"/>
          <p:cNvSpPr/>
          <p:nvPr/>
        </p:nvSpPr>
        <p:spPr>
          <a:xfrm>
            <a:off x="9006840" y="4672584"/>
            <a:ext cx="822960" cy="18288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61" name="Text 58"/>
          <p:cNvSpPr/>
          <p:nvPr/>
        </p:nvSpPr>
        <p:spPr>
          <a:xfrm>
            <a:off x="9006840" y="46725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QUALIFIED</a:t>
            </a:r>
            <a:endParaRPr lang="en-US" sz="500" dirty="0"/>
          </a:p>
        </p:txBody>
      </p:sp>
      <p:sp>
        <p:nvSpPr>
          <p:cNvPr id="62" name="Text 59"/>
          <p:cNvSpPr/>
          <p:nvPr/>
        </p:nvSpPr>
        <p:spPr>
          <a:xfrm>
            <a:off x="7360920" y="501091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Deccan Cabinets</a:t>
            </a:r>
            <a:endParaRPr lang="en-US" sz="700" dirty="0"/>
          </a:p>
        </p:txBody>
      </p:sp>
      <p:sp>
        <p:nvSpPr>
          <p:cNvPr id="63" name="Shape 60"/>
          <p:cNvSpPr/>
          <p:nvPr/>
        </p:nvSpPr>
        <p:spPr>
          <a:xfrm>
            <a:off x="9006840" y="5056632"/>
            <a:ext cx="822960" cy="18288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/>
        </p:spPr>
      </p:sp>
      <p:sp>
        <p:nvSpPr>
          <p:cNvPr id="64" name="Text 61"/>
          <p:cNvSpPr/>
          <p:nvPr/>
        </p:nvSpPr>
        <p:spPr>
          <a:xfrm>
            <a:off x="9006840" y="505663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CONTACTED</a:t>
            </a:r>
            <a:endParaRPr lang="en-US" sz="500" dirty="0"/>
          </a:p>
        </p:txBody>
      </p:sp>
      <p:sp>
        <p:nvSpPr>
          <p:cNvPr id="65" name="Text 62"/>
          <p:cNvSpPr/>
          <p:nvPr/>
        </p:nvSpPr>
        <p:spPr>
          <a:xfrm>
            <a:off x="91440" y="20574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03B12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Live KPIs — Pipeline,</a:t>
            </a:r>
            <a:endParaRPr lang="en-US" sz="1300" dirty="0"/>
          </a:p>
          <a:p>
            <a:pPr algn="r" indent="0" marL="0">
              <a:buNone/>
            </a:pPr>
            <a:r>
              <a:rPr lang="en-US" sz="1300" b="1" dirty="0">
                <a:solidFill>
                  <a:srgbClr val="E03B12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Revenue, Leads, Actions</a:t>
            </a:r>
            <a:endParaRPr lang="en-US" sz="1300" dirty="0"/>
          </a:p>
        </p:txBody>
      </p:sp>
      <p:sp>
        <p:nvSpPr>
          <p:cNvPr id="66" name="Text 63"/>
          <p:cNvSpPr/>
          <p:nvPr/>
        </p:nvSpPr>
        <p:spPr>
          <a:xfrm>
            <a:off x="91440" y="37490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03B12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Monthly revenue</a:t>
            </a:r>
            <a:endParaRPr lang="en-US" sz="1300" dirty="0"/>
          </a:p>
          <a:p>
            <a:pPr algn="r" indent="0" marL="0">
              <a:buNone/>
            </a:pPr>
            <a:r>
              <a:rPr lang="en-US" sz="1300" b="1" dirty="0">
                <a:solidFill>
                  <a:srgbClr val="E03B12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trend chart</a:t>
            </a:r>
            <a:endParaRPr lang="en-US" sz="1300" dirty="0"/>
          </a:p>
        </p:txBody>
      </p:sp>
      <p:sp>
        <p:nvSpPr>
          <p:cNvPr id="67" name="Text 64"/>
          <p:cNvSpPr/>
          <p:nvPr/>
        </p:nvSpPr>
        <p:spPr>
          <a:xfrm>
            <a:off x="91440" y="47548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03B12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Recent CRM leads</a:t>
            </a:r>
            <a:endParaRPr lang="en-US" sz="1300" dirty="0"/>
          </a:p>
          <a:p>
            <a:pPr algn="r" indent="0" marL="0">
              <a:buNone/>
            </a:pPr>
            <a:r>
              <a:rPr lang="en-US" sz="1300" b="1" dirty="0">
                <a:solidFill>
                  <a:srgbClr val="E03B12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with stage badges</a:t>
            </a:r>
            <a:endParaRPr lang="en-US" sz="1300" dirty="0"/>
          </a:p>
        </p:txBody>
      </p:sp>
      <p:sp>
        <p:nvSpPr>
          <p:cNvPr id="68" name="Text 65"/>
          <p:cNvSpPr/>
          <p:nvPr/>
        </p:nvSpPr>
        <p:spPr>
          <a:xfrm>
            <a:off x="3383280" y="6400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3B12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Module tabs —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E03B12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CRM · ERP</a:t>
            </a:r>
            <a:endParaRPr lang="en-US" sz="1300" dirty="0"/>
          </a:p>
        </p:txBody>
      </p:sp>
      <p:pic>
        <p:nvPicPr>
          <p:cNvPr id="69" name="Image 1" descr="/Users/mohanvemulakonda/Projects/werkfox/public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263640"/>
            <a:ext cx="32004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486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CRM — Customer Relationship Management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1188720"/>
            <a:ext cx="731520" cy="36576"/>
          </a:xfrm>
          <a:prstGeom prst="rect">
            <a:avLst/>
          </a:prstGeom>
          <a:solidFill>
            <a:srgbClr val="E03B12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Track every lead from first contact to closed deal. Built for manufacturing sales cycles.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2011680"/>
            <a:ext cx="3200400" cy="1508760"/>
          </a:xfrm>
          <a:prstGeom prst="roundRect">
            <a:avLst>
              <a:gd name="adj" fmla="val 6061"/>
            </a:avLst>
          </a:prstGeom>
          <a:solidFill>
            <a:srgbClr val="F3F4F6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2212848"/>
            <a:ext cx="109728" cy="109728"/>
          </a:xfrm>
          <a:prstGeom prst="ellipse">
            <a:avLst/>
          </a:prstGeom>
          <a:solidFill>
            <a:srgbClr val="E03B12"/>
          </a:solidFill>
          <a:ln/>
        </p:spPr>
      </p:sp>
      <p:sp>
        <p:nvSpPr>
          <p:cNvPr id="7" name="Text 5"/>
          <p:cNvSpPr/>
          <p:nvPr/>
        </p:nvSpPr>
        <p:spPr>
          <a:xfrm>
            <a:off x="1325880" y="212140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Lead Management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24688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Capture leads from website, referrals, trade shows. Score and qualify automatically. Never lose a prospect.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34840" y="2011680"/>
            <a:ext cx="3200400" cy="1508760"/>
          </a:xfrm>
          <a:prstGeom prst="roundRect">
            <a:avLst>
              <a:gd name="adj" fmla="val 6061"/>
            </a:avLst>
          </a:prstGeom>
          <a:solidFill>
            <a:srgbClr val="F3F4F6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2212848"/>
            <a:ext cx="109728" cy="109728"/>
          </a:xfrm>
          <a:prstGeom prst="ellipse">
            <a:avLst/>
          </a:prstGeom>
          <a:solidFill>
            <a:srgbClr val="E03B12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212140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Opportunity Pipeline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63440" y="24688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Visual pipeline with stages — New, Contacted, Qualified, Proposal, Negotiation, Won/Lost. Drag-and-drop.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955280" y="2011680"/>
            <a:ext cx="3200400" cy="1508760"/>
          </a:xfrm>
          <a:prstGeom prst="roundRect">
            <a:avLst>
              <a:gd name="adj" fmla="val 6061"/>
            </a:avLst>
          </a:prstGeom>
          <a:solidFill>
            <a:srgbClr val="F3F4F6"/>
          </a:solidFill>
          <a:ln/>
        </p:spPr>
      </p:sp>
      <p:sp>
        <p:nvSpPr>
          <p:cNvPr id="14" name="Shape 12"/>
          <p:cNvSpPr/>
          <p:nvPr/>
        </p:nvSpPr>
        <p:spPr>
          <a:xfrm>
            <a:off x="8183880" y="2212848"/>
            <a:ext cx="109728" cy="109728"/>
          </a:xfrm>
          <a:prstGeom prst="ellipse">
            <a:avLst/>
          </a:prstGeom>
          <a:solidFill>
            <a:srgbClr val="E03B12"/>
          </a:solidFill>
          <a:ln/>
        </p:spPr>
      </p:sp>
      <p:sp>
        <p:nvSpPr>
          <p:cNvPr id="15" name="Text 13"/>
          <p:cNvSpPr/>
          <p:nvPr/>
        </p:nvSpPr>
        <p:spPr>
          <a:xfrm>
            <a:off x="8366760" y="212140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Activity Tracking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83880" y="24688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 calls, meetings, site visits. Set follow-up reminders. Full interaction history per customer.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4400" y="3794760"/>
            <a:ext cx="3200400" cy="1508760"/>
          </a:xfrm>
          <a:prstGeom prst="roundRect">
            <a:avLst>
              <a:gd name="adj" fmla="val 6061"/>
            </a:avLst>
          </a:prstGeom>
          <a:solidFill>
            <a:srgbClr val="F3F4F6"/>
          </a:solidFill>
          <a:ln/>
        </p:spPr>
      </p:sp>
      <p:sp>
        <p:nvSpPr>
          <p:cNvPr id="18" name="Shape 16"/>
          <p:cNvSpPr/>
          <p:nvPr/>
        </p:nvSpPr>
        <p:spPr>
          <a:xfrm>
            <a:off x="1143000" y="3995928"/>
            <a:ext cx="109728" cy="109728"/>
          </a:xfrm>
          <a:prstGeom prst="ellipse">
            <a:avLst/>
          </a:prstGeom>
          <a:solidFill>
            <a:srgbClr val="E03B12"/>
          </a:solidFill>
          <a:ln/>
        </p:spPr>
      </p:sp>
      <p:sp>
        <p:nvSpPr>
          <p:cNvPr id="19" name="Text 17"/>
          <p:cNvSpPr/>
          <p:nvPr/>
        </p:nvSpPr>
        <p:spPr>
          <a:xfrm>
            <a:off x="1325880" y="390448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 Profiles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425196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Complete customer database — contact info, purchase history, credit terms, delivery preferences.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34840" y="3794760"/>
            <a:ext cx="3200400" cy="1508760"/>
          </a:xfrm>
          <a:prstGeom prst="roundRect">
            <a:avLst>
              <a:gd name="adj" fmla="val 6061"/>
            </a:avLst>
          </a:prstGeom>
          <a:solidFill>
            <a:srgbClr val="F3F4F6"/>
          </a:solidFill>
          <a:ln/>
        </p:spPr>
      </p:sp>
      <p:sp>
        <p:nvSpPr>
          <p:cNvPr id="22" name="Shape 20"/>
          <p:cNvSpPr/>
          <p:nvPr/>
        </p:nvSpPr>
        <p:spPr>
          <a:xfrm>
            <a:off x="4663440" y="3995928"/>
            <a:ext cx="109728" cy="109728"/>
          </a:xfrm>
          <a:prstGeom prst="ellipse">
            <a:avLst/>
          </a:prstGeom>
          <a:solidFill>
            <a:srgbClr val="E03B12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390448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Quotes &amp; Proposals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663440" y="425196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Generate professional quotes with product catalog, pricing, GST. Convert to sales order in one click.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955280" y="3794760"/>
            <a:ext cx="3200400" cy="1508760"/>
          </a:xfrm>
          <a:prstGeom prst="roundRect">
            <a:avLst>
              <a:gd name="adj" fmla="val 6061"/>
            </a:avLst>
          </a:prstGeom>
          <a:solidFill>
            <a:srgbClr val="F3F4F6"/>
          </a:solidFill>
          <a:ln/>
        </p:spPr>
      </p:sp>
      <p:sp>
        <p:nvSpPr>
          <p:cNvPr id="26" name="Shape 24"/>
          <p:cNvSpPr/>
          <p:nvPr/>
        </p:nvSpPr>
        <p:spPr>
          <a:xfrm>
            <a:off x="8183880" y="3995928"/>
            <a:ext cx="109728" cy="109728"/>
          </a:xfrm>
          <a:prstGeom prst="ellipse">
            <a:avLst/>
          </a:prstGeom>
          <a:solidFill>
            <a:srgbClr val="E03B12"/>
          </a:solidFill>
          <a:ln/>
        </p:spPr>
      </p:sp>
      <p:sp>
        <p:nvSpPr>
          <p:cNvPr id="27" name="Text 25"/>
          <p:cNvSpPr/>
          <p:nvPr/>
        </p:nvSpPr>
        <p:spPr>
          <a:xfrm>
            <a:off x="8366760" y="390448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Reports &amp; Analytics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183880" y="425196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Conversion rates, pipeline value, sales forecasting, team performance. Data-driven decisions.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14400" y="6172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03B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lead to invoice — one connected flow. No data re-entry.</a:t>
            </a:r>
            <a:endParaRPr lang="en-US" sz="1200" dirty="0"/>
          </a:p>
        </p:txBody>
      </p:sp>
      <p:pic>
        <p:nvPicPr>
          <p:cNvPr id="30" name="Image 0" descr="/Users/mohanvemulakonda/Projects/werkfox/publi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03152" y="6263640"/>
            <a:ext cx="32004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486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ERP — End-to-End Manufacturing Operations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1188720"/>
            <a:ext cx="731520" cy="36576"/>
          </a:xfrm>
          <a:prstGeom prst="rect">
            <a:avLst/>
          </a:prstGeom>
          <a:solidFill>
            <a:srgbClr val="E03B12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module a factory needs — from raw material to finished goods to dispatch.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1965960"/>
            <a:ext cx="3200400" cy="1143000"/>
          </a:xfrm>
          <a:prstGeom prst="roundRect">
            <a:avLst>
              <a:gd name="adj" fmla="val 6400"/>
            </a:avLst>
          </a:prstGeom>
          <a:solidFill>
            <a:srgbClr val="F3F4F6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03911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Products &amp; BOM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233172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 catalog with multi-level BOM, variants, GST rates, costing.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89120" y="1965960"/>
            <a:ext cx="3200400" cy="1143000"/>
          </a:xfrm>
          <a:prstGeom prst="roundRect">
            <a:avLst>
              <a:gd name="adj" fmla="val 6400"/>
            </a:avLst>
          </a:prstGeom>
          <a:solidFill>
            <a:srgbClr val="F3F4F6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203911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Inventory &amp; Stock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0" y="233172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Multi-warehouse stock tracking. Reorder alerts. Stock adjustments &amp; transfers.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863840" y="1965960"/>
            <a:ext cx="3200400" cy="1143000"/>
          </a:xfrm>
          <a:prstGeom prst="roundRect">
            <a:avLst>
              <a:gd name="adj" fmla="val 6400"/>
            </a:avLst>
          </a:prstGeom>
          <a:solidFill>
            <a:srgbClr val="F3F4F6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0" y="203911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Vendors &amp; Procurement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046720" y="233172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Vendor database. Purchase orders, GRN, quality checks, payment tracking.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14400" y="3291840"/>
            <a:ext cx="3200400" cy="1143000"/>
          </a:xfrm>
          <a:prstGeom prst="roundRect">
            <a:avLst>
              <a:gd name="adj" fmla="val 6400"/>
            </a:avLst>
          </a:prstGeom>
          <a:solidFill>
            <a:srgbClr val="F3F4F6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336499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Production &amp; Work Orders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365760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Create work orders from sales orders. Track production stages, yield, wastage.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89120" y="3291840"/>
            <a:ext cx="3200400" cy="1143000"/>
          </a:xfrm>
          <a:prstGeom prst="roundRect">
            <a:avLst>
              <a:gd name="adj" fmla="val 6400"/>
            </a:avLst>
          </a:prstGeom>
          <a:solidFill>
            <a:srgbClr val="F3F4F6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0" y="336499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Sales Orders &amp; Invoices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0" y="365760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 from quotes. Auto-generate invoices. GST-compliant. Payment reconciliation.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863840" y="3291840"/>
            <a:ext cx="3200400" cy="1143000"/>
          </a:xfrm>
          <a:prstGeom prst="roundRect">
            <a:avLst>
              <a:gd name="adj" fmla="val 6400"/>
            </a:avLst>
          </a:prstGeom>
          <a:solidFill>
            <a:srgbClr val="F3F4F6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0" y="336499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Dispatch &amp; Delivery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046720" y="365760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Dispatch planning. Delivery challan. Transporter assignment. Proof of delivery.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14400" y="4617720"/>
            <a:ext cx="3200400" cy="1143000"/>
          </a:xfrm>
          <a:prstGeom prst="roundRect">
            <a:avLst>
              <a:gd name="adj" fmla="val 6400"/>
            </a:avLst>
          </a:prstGeom>
          <a:solidFill>
            <a:srgbClr val="F3F4F6"/>
          </a:solidFill>
          <a:ln/>
        </p:spPr>
      </p:sp>
      <p:sp>
        <p:nvSpPr>
          <p:cNvPr id="24" name="Text 22"/>
          <p:cNvSpPr/>
          <p:nvPr/>
        </p:nvSpPr>
        <p:spPr>
          <a:xfrm>
            <a:off x="1097280" y="469087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Material Requests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97280" y="498348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Auto-generate material requests from BOM. Link to purchase orders. Track fulfillment.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389120" y="4617720"/>
            <a:ext cx="3200400" cy="1143000"/>
          </a:xfrm>
          <a:prstGeom prst="roundRect">
            <a:avLst>
              <a:gd name="adj" fmla="val 6400"/>
            </a:avLst>
          </a:prstGeom>
          <a:solidFill>
            <a:srgbClr val="F3F4F6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0" y="469087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Payments &amp; Accounts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0" y="498348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Track receivables &amp; payables. Payment reminders. Basic accounting integration.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863840" y="4617720"/>
            <a:ext cx="3200400" cy="1143000"/>
          </a:xfrm>
          <a:prstGeom prst="roundRect">
            <a:avLst>
              <a:gd name="adj" fmla="val 6400"/>
            </a:avLst>
          </a:prstGeom>
          <a:solidFill>
            <a:srgbClr val="F3F4F6"/>
          </a:solidFill>
          <a:ln/>
        </p:spPr>
      </p:sp>
      <p:sp>
        <p:nvSpPr>
          <p:cNvPr id="30" name="Text 28"/>
          <p:cNvSpPr/>
          <p:nvPr/>
        </p:nvSpPr>
        <p:spPr>
          <a:xfrm>
            <a:off x="8046720" y="469087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Reports &amp; Dashboards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046720" y="498348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Revenue, inventory valuation, production efficiency, vendor performance.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14400" y="6217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03B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All modules share one database. Change a product price — it updates everywhere instantly.</a:t>
            </a:r>
            <a:endParaRPr lang="en-US" sz="1200" dirty="0"/>
          </a:p>
        </p:txBody>
      </p:sp>
      <p:pic>
        <p:nvPicPr>
          <p:cNvPr id="33" name="Image 0" descr="/Users/mohanvemulakonda/Projects/werkfox/publi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03152" y="6263640"/>
            <a:ext cx="32004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486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Industry-Specific Modules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1188720"/>
            <a:ext cx="731520" cy="36576"/>
          </a:xfrm>
          <a:prstGeom prst="rect">
            <a:avLst/>
          </a:prstGeom>
          <a:solidFill>
            <a:srgbClr val="E03B12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WerkFox builds custom modules for specific manufacturing verticals. Plug into the core ERP — no extra setup.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2011680"/>
            <a:ext cx="3200400" cy="3291840"/>
          </a:xfrm>
          <a:prstGeom prst="roundRect">
            <a:avLst>
              <a:gd name="adj" fmla="val 2857"/>
            </a:avLst>
          </a:prstGeom>
          <a:solidFill>
            <a:srgbClr val="FEF2F2"/>
          </a:solidFill>
          <a:ln w="19050">
            <a:solidFill>
              <a:srgbClr val="E03B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2148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3B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FoxCut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43000" y="2514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Modular Kitchens &amp; Cabinetry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88720" y="2926080"/>
            <a:ext cx="73152" cy="73152"/>
          </a:xfrm>
          <a:prstGeom prst="ellipse">
            <a:avLst/>
          </a:prstGeom>
          <a:solidFill>
            <a:srgbClr val="E03B12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2834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Guillotine-optimized sheet cutting layouts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188720" y="3291840"/>
            <a:ext cx="73152" cy="73152"/>
          </a:xfrm>
          <a:prstGeom prst="ellipse">
            <a:avLst/>
          </a:prstGeom>
          <a:solidFill>
            <a:srgbClr val="E03B12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3200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 Indian market materials with pricing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188720" y="3657600"/>
            <a:ext cx="73152" cy="73152"/>
          </a:xfrm>
          <a:prstGeom prst="ellipse">
            <a:avLst/>
          </a:prstGeom>
          <a:solidFill>
            <a:srgbClr val="E03B12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35661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Edge banding per edge + grain direction lock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188720" y="4023360"/>
            <a:ext cx="73152" cy="73152"/>
          </a:xfrm>
          <a:prstGeom prst="ellipse">
            <a:avLst/>
          </a:prstGeom>
          <a:solidFill>
            <a:srgbClr val="E03B12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3931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Kitchen module presets (Base, Wall, Tall, Drawers)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188720" y="4389120"/>
            <a:ext cx="73152" cy="73152"/>
          </a:xfrm>
          <a:prstGeom prst="ellipse">
            <a:avLst/>
          </a:prstGeom>
          <a:solidFill>
            <a:srgbClr val="E03B12"/>
          </a:solidFill>
          <a:ln/>
        </p:spPr>
      </p:sp>
      <p:sp>
        <p:nvSpPr>
          <p:cNvPr id="17" name="Text 15"/>
          <p:cNvSpPr/>
          <p:nvPr/>
        </p:nvSpPr>
        <p:spPr>
          <a:xfrm>
            <a:off x="1371600" y="42976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Visual cutting diagrams with cut sequences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188720" y="4754880"/>
            <a:ext cx="73152" cy="73152"/>
          </a:xfrm>
          <a:prstGeom prst="ellipse">
            <a:avLst/>
          </a:prstGeom>
          <a:solidFill>
            <a:srgbClr val="E03B12"/>
          </a:solidFill>
          <a:ln/>
        </p:spPr>
      </p:sp>
      <p:sp>
        <p:nvSpPr>
          <p:cNvPr id="19" name="Text 17"/>
          <p:cNvSpPr/>
          <p:nvPr/>
        </p:nvSpPr>
        <p:spPr>
          <a:xfrm>
            <a:off x="1371600" y="4663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Remnant tracking + cost calculator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434840" y="2011680"/>
            <a:ext cx="3200400" cy="3291840"/>
          </a:xfrm>
          <a:prstGeom prst="roundRect">
            <a:avLst>
              <a:gd name="adj" fmla="val 2857"/>
            </a:avLst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148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FoxFrame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663440" y="2514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Window &amp; Door Manufacturing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2926080"/>
            <a:ext cx="73152" cy="7315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2834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Aluminium profile bar cutting optimization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09160" y="3291840"/>
            <a:ext cx="73152" cy="7315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3200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Window/door configuration (sliding, casement, fixed)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09160" y="3657600"/>
            <a:ext cx="73152" cy="7315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8" name="Text 26"/>
          <p:cNvSpPr/>
          <p:nvPr/>
        </p:nvSpPr>
        <p:spPr>
          <a:xfrm>
            <a:off x="4892040" y="35661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Glass panel calculation + spacer bars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09160" y="4023360"/>
            <a:ext cx="73152" cy="7315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0" name="Text 28"/>
          <p:cNvSpPr/>
          <p:nvPr/>
        </p:nvSpPr>
        <p:spPr>
          <a:xfrm>
            <a:off x="4892040" y="3931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Hardware &amp; accessory BOM per unit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09160" y="4389120"/>
            <a:ext cx="73152" cy="7315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2" name="Text 30"/>
          <p:cNvSpPr/>
          <p:nvPr/>
        </p:nvSpPr>
        <p:spPr>
          <a:xfrm>
            <a:off x="4892040" y="42976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Multi-panel layout designer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09160" y="4754880"/>
            <a:ext cx="73152" cy="7315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4" name="Text 32"/>
          <p:cNvSpPr/>
          <p:nvPr/>
        </p:nvSpPr>
        <p:spPr>
          <a:xfrm>
            <a:off x="4892040" y="4663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1D bin packing for profile bars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955280" y="2011680"/>
            <a:ext cx="3200400" cy="3291840"/>
          </a:xfrm>
          <a:prstGeom prst="roundRect">
            <a:avLst>
              <a:gd name="adj" fmla="val 2857"/>
            </a:avLst>
          </a:prstGeom>
          <a:solidFill>
            <a:srgbClr val="F5F3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183880" y="2148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FoxLabel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8183880" y="2514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Printing &amp; Packaging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229600" y="2926080"/>
            <a:ext cx="73152" cy="7315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9" name="Text 37"/>
          <p:cNvSpPr/>
          <p:nvPr/>
        </p:nvSpPr>
        <p:spPr>
          <a:xfrm>
            <a:off x="8412480" y="2834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Label &amp; sticker die-cut optimization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8229600" y="3291840"/>
            <a:ext cx="73152" cy="7315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41" name="Text 39"/>
          <p:cNvSpPr/>
          <p:nvPr/>
        </p:nvSpPr>
        <p:spPr>
          <a:xfrm>
            <a:off x="8412480" y="3200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Substrate material library (vinyl, paper, polyester)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8229600" y="3657600"/>
            <a:ext cx="73152" cy="7315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43" name="Text 41"/>
          <p:cNvSpPr/>
          <p:nvPr/>
        </p:nvSpPr>
        <p:spPr>
          <a:xfrm>
            <a:off x="8412480" y="35661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Print run planning + color separation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8229600" y="4023360"/>
            <a:ext cx="73152" cy="7315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45" name="Text 43"/>
          <p:cNvSpPr/>
          <p:nvPr/>
        </p:nvSpPr>
        <p:spPr>
          <a:xfrm>
            <a:off x="8412480" y="3931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Waste tracking per job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8229600" y="4389120"/>
            <a:ext cx="73152" cy="7315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47" name="Text 45"/>
          <p:cNvSpPr/>
          <p:nvPr/>
        </p:nvSpPr>
        <p:spPr>
          <a:xfrm>
            <a:off x="8412480" y="42976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Carton/box blank nesting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8229600" y="4754880"/>
            <a:ext cx="73152" cy="7315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49" name="Text 47"/>
          <p:cNvSpPr/>
          <p:nvPr/>
        </p:nvSpPr>
        <p:spPr>
          <a:xfrm>
            <a:off x="8412480" y="4663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Job costing with material + machine time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914400" y="6217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03B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Each module integrates with core ERP — shared inventory, vendors, invoicing, and reporting.</a:t>
            </a:r>
            <a:endParaRPr lang="en-US" sz="1200" dirty="0"/>
          </a:p>
        </p:txBody>
      </p:sp>
      <p:pic>
        <p:nvPicPr>
          <p:cNvPr id="51" name="Image 0" descr="/Users/mohanvemulakonda/Projects/werkfox/publi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03152" y="6263640"/>
            <a:ext cx="32004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ohanvemulakonda/Projects/werkfox/public/logo.pn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tretch>
            <a:fillRect/>
          </a:stretch>
        </p:blipFill>
        <p:spPr>
          <a:xfrm>
            <a:off x="6153912" y="-2057400"/>
            <a:ext cx="10972800" cy="10972800"/>
          </a:xfrm>
          <a:prstGeom prst="rect">
            <a:avLst/>
          </a:prstGeom>
        </p:spPr>
      </p:pic>
      <p:pic>
        <p:nvPicPr>
          <p:cNvPr id="3" name="Image 1" descr="/Users/mohanvemulakonda/Projects/werkfox/public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828800" cy="18288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14400" y="29260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spc="400" kern="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Werk</a:t>
            </a:r>
            <a:pPr algn="l" indent="0" marL="0">
              <a:buNone/>
            </a:pPr>
            <a:r>
              <a:rPr lang="en-US" sz="6400" b="1" dirty="0">
                <a:solidFill>
                  <a:srgbClr val="E03B12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Fox</a:t>
            </a:r>
            <a:endParaRPr lang="en-US" sz="5400" dirty="0"/>
          </a:p>
        </p:txBody>
      </p:sp>
      <p:sp>
        <p:nvSpPr>
          <p:cNvPr id="5" name="Shape 1"/>
          <p:cNvSpPr/>
          <p:nvPr/>
        </p:nvSpPr>
        <p:spPr>
          <a:xfrm>
            <a:off x="914400" y="3931920"/>
            <a:ext cx="731520" cy="36576"/>
          </a:xfrm>
          <a:prstGeom prst="rect">
            <a:avLst/>
          </a:prstGeom>
          <a:solidFill>
            <a:srgbClr val="E03B12"/>
          </a:solidFill>
          <a:ln/>
        </p:spPr>
      </p:sp>
      <p:sp>
        <p:nvSpPr>
          <p:cNvPr id="6" name="Text 2"/>
          <p:cNvSpPr/>
          <p:nvPr/>
        </p:nvSpPr>
        <p:spPr>
          <a:xfrm>
            <a:off x="914400" y="41148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Let's build your factory's future.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914400" y="4846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3B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www.werkfox.com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914400" y="5166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info@werkfox.com</a:t>
            </a:r>
            <a:endParaRPr lang="en-US" sz="1300" dirty="0"/>
          </a:p>
        </p:txBody>
      </p:sp>
      <p:pic>
        <p:nvPicPr>
          <p:cNvPr id="9" name="Image 2" descr="/Users/mohanvemulakonda/Projects/werkfox/public/branding/stacknex-ic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6217920"/>
            <a:ext cx="502920" cy="3200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63040" y="623620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StackNex Product</a:t>
            </a:r>
            <a:endParaRPr lang="en-US" sz="1100" dirty="0"/>
          </a:p>
        </p:txBody>
      </p:sp>
      <p:pic>
        <p:nvPicPr>
          <p:cNvPr id="11" name="Image 3" descr="/Users/mohanvemulakonda/Projects/werkfox/public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03152" y="6263640"/>
            <a:ext cx="320040" cy="320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WerkFox - Manufacturing ERP Platform</dc:title>
  <dc:subject>PptxGenJS Presentation</dc:subject>
  <dc:creator>WerkFox</dc:creator>
  <cp:lastModifiedBy>WerkFox</cp:lastModifiedBy>
  <cp:revision>1</cp:revision>
  <dcterms:created xsi:type="dcterms:W3CDTF">2026-04-03T08:48:36Z</dcterms:created>
  <dcterms:modified xsi:type="dcterms:W3CDTF">2026-04-03T08:48:36Z</dcterms:modified>
</cp:coreProperties>
</file>